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C9D8E6"/>
                </a:solidFill>
                <a:latin typeface="Calibri"/>
              </a:rPr>
              <a:t>AI KPI Storytelling &amp; Action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Detailed Business Proposal — Accenture Innovation Challenge 2026,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8E6"/>
                </a:solidFill>
                <a:latin typeface="Calibri"/>
              </a:rPr>
              <a:t>Problem Track 3: BusinessIntelligence.ai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Team RishiXcenture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BBCC"/>
                </a:solidFill>
                <a:latin typeface="Calibri"/>
              </a:rPr>
              <a:t>github.com/rishirathodmegavath-maker/Nukkad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6324F"/>
                </a:solidFill>
                <a:latin typeface="Calibri"/>
              </a:rPr>
              <a:t>A dashboard shows revenue dropped 8%. It rarely explains why, how sure to be, or what to do about it — that translation is still manual, and takes hours to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Clarity </a:t>
            </a:r>
            <a:r>
              <a:rPr b="0" sz="1500">
                <a:solidFill>
                  <a:srgbClr val="1A1A1A"/>
                </a:solidFill>
                <a:latin typeface="Calibri"/>
              </a:rPr>
              <a:t>  detects materially significant KPI movements — blending statistical significance with real dollar impact, not statistics alone.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Attributes </a:t>
            </a:r>
            <a:r>
              <a:rPr b="0" sz="1500">
                <a:solidFill>
                  <a:srgbClr val="1A1A1A"/>
                </a:solidFill>
                <a:latin typeface="Calibri"/>
              </a:rPr>
              <a:t>  changes to the responsible segments and cross-dimensional interaction effects, corroborated with retrieved evidence.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Scores its own confidence honestly 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including explicit abstention when the data doesn't support a diagnosis.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Recommends governed actions </a:t>
            </a:r>
            <a:r>
              <a:rPr b="0" sz="1500">
                <a:solidFill>
                  <a:srgbClr val="1A1A1A"/>
                </a:solidFill>
                <a:latin typeface="Calibri"/>
              </a:rPr>
              <a:t>  with an accountable owner, a monitoring plan, and a decision-rights check on who can actually authorize it.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Learns from feedback 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unfavorable feedback trends measurably trim future confidence, a real closed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5606C"/>
                </a:solidFill>
                <a:latin typeface="Calibri"/>
              </a:rPr>
              <a:t>A KPI engine has to answer three questions a static dashboard cannot: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▪  1. What actually changed, and does it matter?</a:t>
            </a:r>
            <a:r>
              <a:rPr b="0" sz="1700">
                <a:solidFill>
                  <a:srgbClr val="1A1A1A"/>
                </a:solidFill>
                <a:latin typeface="Calibri"/>
              </a:rPr>
              <a:t>  Materiality needs both statistical significance and financial impact — a dashboard has neither.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▪  2. Why did it change, and how confident should we be?</a:t>
            </a:r>
            <a:r>
              <a:rPr b="0" sz="1700">
                <a:solidFill>
                  <a:srgbClr val="1A1A1A"/>
                </a:solidFill>
                <a:latin typeface="Calibri"/>
              </a:rPr>
              <a:t>  Root-cause attribution across dimensions, corroborated with evidence, is a judgment call — and dangerous to fake.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b="1" sz="1700">
                <a:solidFill>
                  <a:srgbClr val="1A1A1A"/>
                </a:solidFill>
                <a:latin typeface="Calibri"/>
              </a:rPr>
              <a:t>▪  3. What should we do, who owns it, and did it work?</a:t>
            </a:r>
            <a:r>
              <a:rPr b="0" sz="1700">
                <a:solidFill>
                  <a:srgbClr val="1A1A1A"/>
                </a:solidFill>
                <a:latin typeface="Calibri"/>
              </a:rPr>
              <a:t>  A recommendation without an accountable owner and a monitoring plan is advice nobody is on the hook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Designed Against Real-World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50">
                <a:solidFill>
                  <a:srgbClr val="1A1A1A"/>
                </a:solidFill>
                <a:latin typeface="Calibri"/>
              </a:rPr>
              <a:t>▪  Heterogeneous sources, different grains &amp; cadences</a:t>
            </a:r>
            <a:r>
              <a:rPr b="0" sz="1450">
                <a:solidFill>
                  <a:srgbClr val="1A1A1A"/>
                </a:solidFill>
                <a:latin typeface="Calibri"/>
              </a:rPr>
              <a:t>  — every KPI declares its source system and refresh cadence; confidence includes a staleness penalty.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50">
                <a:solidFill>
                  <a:srgbClr val="1A1A1A"/>
                </a:solidFill>
                <a:latin typeface="Calibri"/>
              </a:rPr>
              <a:t>▪  Ambiguous, multi-causal movement</a:t>
            </a:r>
            <a:r>
              <a:rPr b="0" sz="1450">
                <a:solidFill>
                  <a:srgbClr val="1A1A1A"/>
                </a:solidFill>
                <a:latin typeface="Calibri"/>
              </a:rPr>
              <a:t>  — EMEA conversion scenario has two overlapping causes plus ranked traffic×device interaction effects.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50">
                <a:solidFill>
                  <a:srgbClr val="1A1A1A"/>
                </a:solidFill>
                <a:latin typeface="Calibri"/>
              </a:rPr>
              <a:t>▪  Sparse history</a:t>
            </a:r>
            <a:r>
              <a:rPr b="0" sz="1450">
                <a:solidFill>
                  <a:srgbClr val="1A1A1A"/>
                </a:solidFill>
                <a:latin typeface="Calibri"/>
              </a:rPr>
              <a:t>  — a 12-day-old feature launch gets an honestly capped confidence and a comparable-cohort benchmark instead of a fake trend.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50">
                <a:solidFill>
                  <a:srgbClr val="1A1A1A"/>
                </a:solidFill>
                <a:latin typeface="Calibri"/>
              </a:rPr>
              <a:t>▪  Contradictory / insufficient evidence</a:t>
            </a:r>
            <a:r>
              <a:rPr b="0" sz="1450">
                <a:solidFill>
                  <a:srgbClr val="1A1A1A"/>
                </a:solidFill>
                <a:latin typeface="Calibri"/>
              </a:rPr>
              <a:t>  — the SMB churn scenario explicitly abstains rather than guessing a dominant cause.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50">
                <a:solidFill>
                  <a:srgbClr val="1A1A1A"/>
                </a:solidFill>
                <a:latin typeface="Calibri"/>
              </a:rPr>
              <a:t>▪  Role-based personalization &amp; access</a:t>
            </a:r>
            <a:r>
              <a:rPr b="0" sz="1450">
                <a:solidFill>
                  <a:srgbClr val="1A1A1A"/>
                </a:solidFill>
                <a:latin typeface="Calibri"/>
              </a:rPr>
              <a:t>  — server-enforced row/domain/field-level entitlement, not client-side hiding.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50">
                <a:solidFill>
                  <a:srgbClr val="1A1A1A"/>
                </a:solidFill>
                <a:latin typeface="Calibri"/>
              </a:rPr>
              <a:t>▪  Cost, latency, auditability at scale</a:t>
            </a:r>
            <a:r>
              <a:rPr b="0" sz="1450">
                <a:solidFill>
                  <a:srgbClr val="1A1A1A"/>
                </a:solidFill>
                <a:latin typeface="Calibri"/>
              </a:rPr>
              <a:t>  — real per-request token/cost/latency telemetry and a persistent audit log from day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2. Solution Design — The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9709" y="2377440"/>
            <a:ext cx="1024128" cy="1051560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KPI data
(multi-source)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443837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281" y="2377440"/>
            <a:ext cx="1024128" cy="1051560"/>
          </a:xfrm>
          <a:prstGeom prst="roundRect">
            <a:avLst/>
          </a:prstGeom>
          <a:solidFill>
            <a:srgbClr val="2B587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Semantic
contract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91409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853" y="2377440"/>
            <a:ext cx="1024128" cy="1051560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Materiality
(signal × $)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38981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62425" y="2377440"/>
            <a:ext cx="1024128" cy="1051560"/>
          </a:xfrm>
          <a:prstGeom prst="roundRect">
            <a:avLst/>
          </a:prstGeom>
          <a:solidFill>
            <a:srgbClr val="2B587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Root cause +
interactions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86553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09997" y="2377440"/>
            <a:ext cx="1024128" cy="1051560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Evidence
retrieval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4125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7569" y="2377440"/>
            <a:ext cx="1024128" cy="1051560"/>
          </a:xfrm>
          <a:prstGeom prst="roundRect">
            <a:avLst/>
          </a:prstGeom>
          <a:solidFill>
            <a:srgbClr val="2B587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Confidence /
abstention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81697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05141" y="2377440"/>
            <a:ext cx="1024128" cy="1051560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
phrasing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29269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2713" y="2377440"/>
            <a:ext cx="1024128" cy="1051560"/>
          </a:xfrm>
          <a:prstGeom prst="roundRect">
            <a:avLst/>
          </a:prstGeom>
          <a:solidFill>
            <a:srgbClr val="2B587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Governed
action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76841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0285" y="2377440"/>
            <a:ext cx="1024128" cy="1051560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Decision
rights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624413" y="2761488"/>
            <a:ext cx="123444" cy="274320"/>
          </a:xfrm>
          <a:prstGeom prst="rightArrow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747857" y="2377440"/>
            <a:ext cx="1024128" cy="1051560"/>
          </a:xfrm>
          <a:prstGeom prst="roundRect">
            <a:avLst/>
          </a:prstGeom>
          <a:solidFill>
            <a:srgbClr val="2B587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Feedback
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6324F"/>
                </a:solidFill>
                <a:latin typeface="Calibri"/>
              </a:rPr>
              <a:t>Statistics and rules calculate the truth. Evidence and confidence determine trust. An LLM only phrases it. Governed rules — not the model — decide the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▪  The LLM receives only pre-computed facts — it never invents a number or decides an action.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▪  No LLM key configured, or the call fails? A deterministic template takes over automatically — zero downtime.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Hybrid AI — Not One Model Doing Everything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97680"/>
              </a:tblGrid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Anomaly / trend detection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Rolling z-score + trend comparison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Deterministic, auditable, no training data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Root-cause attribution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Contribution-share ranking + 2-D interaction effects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Reproducible, not probabilistic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Materiality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Statistical significance × governed $ impact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Loud ≠ material; impact ≠ always visible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Evidence retrieval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TF-IDF cosine search over a versioned corpus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Traceable citations, not a black box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Confidence / abstention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Weighted, explainable formula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Every score ships its own reasoning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Recommended actions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Fixed playbook, structured fields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Action selection stays auditable, not LLM-guessed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Narrative generation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LLM (persona-tuned) or deterministic template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1A"/>
                          </a:solidFill>
                        </a:defRPr>
                      </a:pPr>
                      <a:r>
                        <a:t>LLM only phrases pre-computed facts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Governance Built In, Not Bolted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Semantic contract per KPI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definition, calculation, lineage, owner, thresholds and access, queryable via API.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Row / domain / field-level access control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enforced server-side (403s, not hidden UI); redacted fields are reported, not silently applied.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Credential-ready data connectors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real SQL warehouse and authenticated BI REST adapters with live connection probes.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Feedback-driven recalibration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unfavorable feedback trends measurably trim the next analysis run's confidence, and say so.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Full runtime telemetry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real latency, token usage and cost per run, read from the provider's own usage response.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Persistent audit log</a:t>
            </a:r>
            <a:r>
              <a:rPr b="0" sz="1500">
                <a:solidFill>
                  <a:srgbClr val="1A1A1A"/>
                </a:solidFill>
                <a:latin typeface="Calibri"/>
              </a:rPr>
              <a:t>  — every run: what was asked, what was concluded, how confident, LLM or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3. Target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611880" cy="44805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1900" b="1">
                <a:solidFill>
                  <a:srgbClr val="16324F"/>
                </a:solidFill>
              </a:rPr>
              <a:t>Executive</a:t>
            </a:r>
          </a:p>
          <a:p>
            <a:pPr>
              <a:spcBef>
                <a:spcPts val="1400"/>
              </a:spcBef>
            </a:pPr>
            <a:r>
              <a:rPr sz="1300" i="1">
                <a:solidFill>
                  <a:srgbClr val="2E6FE0"/>
                </a:solidFill>
              </a:rPr>
              <a:t>Needs: Fast, low-jargon answer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>
                <a:solidFill>
                  <a:srgbClr val="1A1A1A"/>
                </a:solidFill>
              </a:rPr>
              <a:t>2-3 sentence narrative, materiality score, the single most important action — no statistical vocabulary.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463040"/>
            <a:ext cx="3611880" cy="44805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1900" b="1">
                <a:solidFill>
                  <a:srgbClr val="16324F"/>
                </a:solidFill>
              </a:rPr>
              <a:t>Analyst</a:t>
            </a:r>
          </a:p>
          <a:p>
            <a:pPr>
              <a:spcBef>
                <a:spcPts val="1400"/>
              </a:spcBef>
            </a:pPr>
            <a:r>
              <a:rPr sz="1300" i="1">
                <a:solidFill>
                  <a:srgbClr val="2E6FE0"/>
                </a:solidFill>
              </a:rPr>
              <a:t>Needs: Enough detail to self-audit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>
                <a:solidFill>
                  <a:srgbClr val="1A1A1A"/>
                </a:solidFill>
              </a:rPr>
              <a:t>Full method disclosure, confidence breakdown, interaction effects, evidence with retrieval score &amp; lineage.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611880" cy="44805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1900" b="1">
                <a:solidFill>
                  <a:srgbClr val="16324F"/>
                </a:solidFill>
              </a:rPr>
              <a:t>Ops / Regional Manager</a:t>
            </a:r>
          </a:p>
          <a:p>
            <a:pPr>
              <a:spcBef>
                <a:spcPts val="1400"/>
              </a:spcBef>
            </a:pPr>
            <a:r>
              <a:rPr sz="1300" i="1">
                <a:solidFill>
                  <a:srgbClr val="2E6FE0"/>
                </a:solidFill>
              </a:rPr>
              <a:t>Needs: Exactly who to contact, today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00">
                <a:solidFill>
                  <a:srgbClr val="1A1A1A"/>
                </a:solidFill>
              </a:rPr>
              <a:t>Direct, urgency-first phrasing naming the team, plus a decision-rights check on authority to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606C"/>
                </a:solidFill>
                <a:latin typeface="Calibri"/>
              </a:rPr>
              <a:t>Entitlement-scoped per role — the same engine serves all three without a rebuild per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4. Business Case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606C"/>
                </a:solidFill>
                <a:latin typeface="Calibri"/>
              </a:rPr>
              <a:t>Assumption (stated explicitly, as the brief invites): a mid-sized enterprise, 50-150 monitored KPIs, ~200-500 material movements/week, each costing 2-6 analyst-hours to investigate manually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Speed:</a:t>
            </a:r>
            <a:r>
              <a:rPr b="0" sz="1500">
                <a:solidFill>
                  <a:srgbClr val="1A1A1A"/>
                </a:solidFill>
                <a:latin typeface="Calibri"/>
              </a:rPr>
              <a:t>  hours-to-days → seconds for first-pass investigation — illustratively 20,000+ analyst-hours/year reclaimed at the low end of assumed volume.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Coverage:</a:t>
            </a:r>
            <a:r>
              <a:rPr b="0" sz="1500">
                <a:solidFill>
                  <a:srgbClr val="1A1A1A"/>
                </a:solidFill>
                <a:latin typeface="Calibri"/>
              </a:rPr>
              <a:t>  every monitored KPI gets an automated first pass, not just the ones an analyst has time for.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Trust &amp; auditability:</a:t>
            </a:r>
            <a:r>
              <a:rPr b="0" sz="1500">
                <a:solidFill>
                  <a:srgbClr val="1A1A1A"/>
                </a:solidFill>
                <a:latin typeface="Calibri"/>
              </a:rPr>
              <a:t>  every run logged with confidence, cost, and LLM-vs-fallback provenance — reviewable by compliance/audit.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Honesty at scale:</a:t>
            </a:r>
            <a:r>
              <a:rPr b="0" sz="1500">
                <a:solidFill>
                  <a:srgbClr val="1A1A1A"/>
                </a:solidFill>
                <a:latin typeface="Calibri"/>
              </a:rPr>
              <a:t>  explicit abstention is a risk-reduction feature, not a limitation — the reason a business keeps trusting the system.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▪  Cost discipline:</a:t>
            </a:r>
            <a:r>
              <a:rPr b="0" sz="1500">
                <a:solidFill>
                  <a:srgbClr val="1A1A1A"/>
                </a:solidFill>
                <a:latin typeface="Calibri"/>
              </a:rPr>
              <a:t>  fully functional with zero external API keys; real token/cost telemetry from day one when an LLM is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 Phased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17320"/>
            <a:ext cx="274320" cy="274320"/>
          </a:xfrm>
          <a:prstGeom prst="ellipse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324F"/>
                </a:solidFill>
                <a:latin typeface="Calibri"/>
              </a:rPr>
              <a:t>Phase 0 — Delivered (this prototype)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Multi-source KPI model, semantic contracts, materiality, interaction effects, TF-IDF evidence retrieval, explainable confidence, personas, RBAC, connectors, feedback loop, telemetry, audit log.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697480"/>
            <a:ext cx="274320" cy="274320"/>
          </a:xfrm>
          <a:prstGeom prst="ellipse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324F"/>
                </a:solidFill>
                <a:latin typeface="Calibri"/>
              </a:rPr>
              <a:t>Phase 1 — Pilot readiness (~90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Seasonality-aware detection (STL); connect one real warehouse + BI tool via existing connector interface; exhaustive 3+ dimensional interaction search; real document ingestion.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977640"/>
            <a:ext cx="274320" cy="274320"/>
          </a:xfrm>
          <a:prstGeom prst="ellipse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324F"/>
                </a:solidFill>
                <a:latin typeface="Calibri"/>
              </a:rPr>
              <a:t>Phase 2 — Production hardening (6-12 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OAuth-managed connector credentials + scheduled ingestion; enterprise-scale embedding index with document-level ACLs; offline evaluation and periodic recalibration; real authentication.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257800"/>
            <a:ext cx="274320" cy="274320"/>
          </a:xfrm>
          <a:prstGeom prst="ellipse">
            <a:avLst/>
          </a:prstGeom>
          <a:solidFill>
            <a:srgbClr val="2E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324F"/>
                </a:solidFill>
                <a:latin typeface="Calibri"/>
              </a:rPr>
              <a:t>Phase 3 — Scale-out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9612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Proactive Slack/email alerting; multi-tenant deployment; governed knowledge-graph layer over KPI/driver relationships.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6. Key Risks &amp;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040880"/>
              </a:tblGrid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LLM hallucination / fabricated numbers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Facts-only prompt; LLM never invents a number; deterministic template fallback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Over- or under-flagging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Materiality blends statistical + $ impact; thresholds centrally tunable per KPI contract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False confidence on ambiguous/sparse data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Explicit abstention: confidence capped and reasoning stated out loud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Data heterogeneity across sources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Governed semantic contract per KPI — one answer to “whose definition is this”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Unauthorized data access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Server-enforced entitlement + field redaction, never client-side hiding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Cost / latency at scale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Real per-request telemetry from day one; deterministic fallback removes hard dependency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Recommendations issued without authority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Every action checked against the viewer's decision rights before it's shown as actionable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Low adoption from skeptical users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Persona-tuned output + visible audit trail build the trust that drives real usage</a:t>
                      </a:r>
                    </a:p>
                  </a:txBody>
                  <a:tcPr anchor="ctr" marL="73152" marR="73152" marT="36576" marB="36576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Clarity — Team RishiXcenture — AIC 2026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60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 days-long investigation.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9D8E6"/>
                </a:solidFill>
                <a:latin typeface="Calibri"/>
              </a:rPr>
              <a:t>Compressed to seconds — with an owner, an audit trail, and an honest confidence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Team RishiXcenture — Accenture Innovation Challenge 2026, Round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BCC"/>
                </a:solidFill>
                <a:latin typeface="Calibri"/>
              </a:rPr>
              <a:t>github.com/rishirathodmegavath-maker/Nukkad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